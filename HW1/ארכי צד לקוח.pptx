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8A76"/>
    <a:srgbClr val="FF7C80"/>
    <a:srgbClr val="FCFA94"/>
    <a:srgbClr val="9999FF"/>
    <a:srgbClr val="FFFF66"/>
    <a:srgbClr val="D5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07" autoAdjust="0"/>
    <p:restoredTop sz="94660"/>
  </p:normalViewPr>
  <p:slideViewPr>
    <p:cSldViewPr snapToGrid="0">
      <p:cViewPr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A02C6D-44C1-C239-4D6E-C969835F3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959AA2F-10B2-292B-BB15-A6F301AA5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58CF29A-17DE-B82C-799C-05125F7B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1AE281-5CE3-1D50-0353-81520638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F44E961-2026-FC7D-5306-443F5603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047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1309EF-09C1-CA1B-C41D-A06A2820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2DFC58F-E770-9DF9-DA9B-9CB236A0D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510C304-6CD6-B947-AB3E-F2031EDF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864ADE7-77C3-204B-E8B7-19D3C54E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C496D12-5A8B-CD89-2B72-A68EA353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8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CA1060-0F9B-DCCD-4237-9BF4D85E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F3B45CD-E372-BF5E-43E1-2C59FD9CA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BE03A0-3541-F929-2121-21D8555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B43F0F-F23A-2077-F747-742A6F33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5D1CE80-D9F8-69D9-53B1-DD79F032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822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868235-B10F-6222-85F3-848374CB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392D5B-CF10-644C-0F48-BF59BF12A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396BFB0-C656-E6DF-A923-4C9648623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83A4DAC-B1F5-BDAB-F6D5-B4B84E1A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B59C757-144F-C67D-24F0-2D765FF9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5A58C4D-41CA-B972-DE2F-878A4BF4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479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2C7770-7750-0077-BE82-93FF7695F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2E8D815-A53B-FF0E-5923-5B74F8B92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1FE0A89-2C19-CBE5-FE24-3C9A82863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36C2642-800D-47BB-E954-5AA0A061A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71C56F4-99F6-9D22-2D86-4B79D4A9A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DB92CE4-BD45-9443-8D0B-C162228F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536868C-5F78-2C1D-65F6-73083CBA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5BD03B1-7558-32C8-5733-4320B955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569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E16787-54E3-DF08-2682-D1668C01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66BF513-9D4F-C636-A19D-B9BCC945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7A0CB62-5E07-BF49-C490-0FA9F259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B6C6B31-8125-C025-6ED4-61A7FFC0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8338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8213DDD-F43C-3704-5427-0CC1823F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6362613-949E-9950-F937-412DB532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4F3B9AB-D1F6-063C-B47C-B4E1F7BB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516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BB60B6-C0A8-CA6B-A1AA-E131D207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2D8450-819D-FA47-6462-C499C9066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4FE164F-6327-D8A0-8F90-5FF8CB836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A2DA776-675C-D701-B4F5-6F8AE691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6BB535-4BE0-BD2F-9251-7735217A4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C7D2D76-E4C4-B736-2782-2D92CC59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571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4EC307-E537-EE67-6983-976C1CB8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FE87CA6-02FA-5F67-ECEF-6F0DF6909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586595E-F32D-436C-581A-B11CFAB6D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FC77170-BD04-F3BE-382D-4E0BFFE2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299CD1C-186A-4DE1-9914-CDC4A303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8E5BB55-9922-CAB2-021B-889B2CE3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772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1793B9-FAFD-61C9-17E5-E1D03733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A8C20F3-33F8-8B69-518B-8C7919483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9A4FD2-C974-51DA-7519-42E06C0A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793CFB0-AD78-5521-FF80-6DC445881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AD7761-AD99-3638-56BB-5FA2D507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683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CC019F7-0869-F129-EC28-77B37FE41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1F614CB-AF94-49E8-30F6-06A7AE7EC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3DD7C09-4889-DEFD-D771-20FF296E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4491201-6B61-96A3-0E71-82E86744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F69A3F7-0EAB-0D1E-0DEA-F59B4A8B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918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991EC788-1F9C-7D50-0C96-1EA56AB5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548F473-65B4-3200-2B63-E57351B90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633E9A-01F5-7B5D-CBFF-2A829AF193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B42A0-F40B-4747-AD7F-944CED113C41}" type="datetimeFigureOut">
              <a:rPr lang="he-IL" smtClean="0"/>
              <a:t>ד'/סיון/תשפ"ו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AE38D0D-85BA-2C80-7B33-56F7A1015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5213BE-DB17-9D76-E0B1-8D70B308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17094-5C16-475E-9544-75FB0287CC4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271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4DB0A50A-130D-19F8-777B-9DF41196F323}"/>
              </a:ext>
            </a:extLst>
          </p:cNvPr>
          <p:cNvSpPr/>
          <p:nvPr/>
        </p:nvSpPr>
        <p:spPr>
          <a:xfrm>
            <a:off x="5115840" y="116632"/>
            <a:ext cx="1362395" cy="36207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src Folder</a:t>
            </a:r>
          </a:p>
          <a:p>
            <a:pPr algn="ctr"/>
            <a:r>
              <a:rPr lang="fr-FR" sz="700" dirty="0">
                <a:solidFill>
                  <a:schemeClr val="tx1"/>
                </a:solidFill>
              </a:rPr>
              <a:t>Client </a:t>
            </a:r>
            <a:r>
              <a:rPr lang="fr-FR" sz="700" dirty="0" err="1">
                <a:solidFill>
                  <a:schemeClr val="tx1"/>
                </a:solidFill>
              </a:rPr>
              <a:t>Side</a:t>
            </a:r>
            <a:r>
              <a:rPr lang="fr-FR" sz="700" dirty="0">
                <a:solidFill>
                  <a:schemeClr val="tx1"/>
                </a:solidFill>
              </a:rPr>
              <a:t> Source Code</a:t>
            </a:r>
            <a:endParaRPr lang="he-IL" sz="700" dirty="0">
              <a:solidFill>
                <a:schemeClr val="tx1"/>
              </a:solidFill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475353A6-A694-6378-9519-98C46763D686}"/>
              </a:ext>
            </a:extLst>
          </p:cNvPr>
          <p:cNvSpPr/>
          <p:nvPr/>
        </p:nvSpPr>
        <p:spPr>
          <a:xfrm>
            <a:off x="4808382" y="1214894"/>
            <a:ext cx="1956652" cy="475612"/>
          </a:xfrm>
          <a:prstGeom prst="roundRect">
            <a:avLst/>
          </a:prstGeom>
          <a:solidFill>
            <a:srgbClr val="FF7C8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800" dirty="0" err="1"/>
              <a:t>App.jsx</a:t>
            </a:r>
            <a:endParaRPr lang="en-US" sz="800" dirty="0"/>
          </a:p>
          <a:p>
            <a:pPr algn="ctr"/>
            <a:r>
              <a:rPr lang="en-US" sz="800" dirty="0"/>
              <a:t>Main React Component</a:t>
            </a:r>
          </a:p>
          <a:p>
            <a:pPr algn="ctr"/>
            <a:r>
              <a:rPr lang="en-US" sz="800" dirty="0"/>
              <a:t>Connects main screens and components</a:t>
            </a:r>
            <a:endParaRPr lang="he-IL" sz="800" dirty="0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E9CAFF56-6FC1-3B0C-2308-B49B854696EE}"/>
              </a:ext>
            </a:extLst>
          </p:cNvPr>
          <p:cNvSpPr/>
          <p:nvPr/>
        </p:nvSpPr>
        <p:spPr>
          <a:xfrm>
            <a:off x="4038344" y="2185120"/>
            <a:ext cx="4536203" cy="744612"/>
          </a:xfrm>
          <a:prstGeom prst="roundRect">
            <a:avLst/>
          </a:prstGeom>
          <a:solidFill>
            <a:srgbClr val="FCFA94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JO" sz="1000" dirty="0"/>
          </a:p>
          <a:p>
            <a:pPr algn="ctr"/>
            <a:r>
              <a:rPr lang="en-US" sz="1000" dirty="0"/>
              <a:t>pages folder</a:t>
            </a:r>
            <a:endParaRPr lang="ar-JO" sz="1000" dirty="0"/>
          </a:p>
          <a:p>
            <a:pPr algn="ctr"/>
            <a:r>
              <a:rPr lang="en-US" sz="1000" dirty="0"/>
              <a:t>High Cohesion: full screens only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he-IL" sz="1000" dirty="0"/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3220CD7B-3825-4CAE-9524-479F9F627C24}"/>
              </a:ext>
            </a:extLst>
          </p:cNvPr>
          <p:cNvSpPr/>
          <p:nvPr/>
        </p:nvSpPr>
        <p:spPr>
          <a:xfrm>
            <a:off x="947386" y="2663415"/>
            <a:ext cx="1970972" cy="16201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services folder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High Cohesion: data actions only</a:t>
            </a:r>
            <a:endParaRPr lang="ar-JO" sz="1000" dirty="0">
              <a:solidFill>
                <a:schemeClr val="tx1"/>
              </a:solidFill>
            </a:endParaRPr>
          </a:p>
          <a:p>
            <a:pPr algn="ctr"/>
            <a:endParaRPr lang="ar-JO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he-IL" sz="1000" dirty="0">
              <a:solidFill>
                <a:schemeClr val="tx1"/>
              </a:solidFill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D96166C7-4A96-40C3-CC37-DC0D198A354F}"/>
              </a:ext>
            </a:extLst>
          </p:cNvPr>
          <p:cNvSpPr/>
          <p:nvPr/>
        </p:nvSpPr>
        <p:spPr>
          <a:xfrm>
            <a:off x="1758431" y="604484"/>
            <a:ext cx="1548944" cy="7701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600" dirty="0"/>
              <a:t>This is an initial client-side architecture diagram based on the current project requirements and implementation. Additional components, pages, services, and future functionalities may be added and updated as the project continues to evolve.</a:t>
            </a:r>
            <a:endParaRPr lang="he-IL" sz="600" dirty="0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B3D9BCD1-B322-6CC5-0693-6A71874F4F79}"/>
              </a:ext>
            </a:extLst>
          </p:cNvPr>
          <p:cNvSpPr/>
          <p:nvPr/>
        </p:nvSpPr>
        <p:spPr>
          <a:xfrm>
            <a:off x="4109175" y="2477266"/>
            <a:ext cx="1276478" cy="3498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AdminDashboard.jsx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Admin management screen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A09EF840-E3C9-03DD-899A-7DFB039CA01E}"/>
              </a:ext>
            </a:extLst>
          </p:cNvPr>
          <p:cNvSpPr/>
          <p:nvPr/>
        </p:nvSpPr>
        <p:spPr>
          <a:xfrm>
            <a:off x="5654653" y="2477266"/>
            <a:ext cx="1276478" cy="3498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HomePage.jsx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Search and view jobs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8C32AD9F-43E1-464B-1714-873FB9852A55}"/>
              </a:ext>
            </a:extLst>
          </p:cNvPr>
          <p:cNvSpPr/>
          <p:nvPr/>
        </p:nvSpPr>
        <p:spPr>
          <a:xfrm>
            <a:off x="7167919" y="2487804"/>
            <a:ext cx="1276478" cy="3365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JobDetailsPage.jsx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Full selected job details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37CFC66F-63C3-4141-45A0-8552A39884FB}"/>
              </a:ext>
            </a:extLst>
          </p:cNvPr>
          <p:cNvSpPr/>
          <p:nvPr/>
        </p:nvSpPr>
        <p:spPr>
          <a:xfrm>
            <a:off x="1289155" y="3352194"/>
            <a:ext cx="1243748" cy="8335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JobsService.js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 err="1">
                <a:solidFill>
                  <a:schemeClr val="tx1"/>
                </a:solidFill>
              </a:rPr>
              <a:t>getAllJobs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algn="ctr"/>
            <a:r>
              <a:rPr lang="en-US" sz="700" dirty="0" err="1">
                <a:solidFill>
                  <a:schemeClr val="tx1"/>
                </a:solidFill>
              </a:rPr>
              <a:t>searchJobs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algn="ctr"/>
            <a:r>
              <a:rPr lang="en-US" sz="700" dirty="0" err="1">
                <a:solidFill>
                  <a:schemeClr val="tx1"/>
                </a:solidFill>
              </a:rPr>
              <a:t>filterJobs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algn="ctr"/>
            <a:r>
              <a:rPr lang="en-US" sz="700" dirty="0" err="1">
                <a:solidFill>
                  <a:schemeClr val="tx1"/>
                </a:solidFill>
              </a:rPr>
              <a:t>getJobById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algn="ctr"/>
            <a:endParaRPr lang="he-IL" sz="700" dirty="0">
              <a:solidFill>
                <a:schemeClr val="tx1"/>
              </a:solidFill>
            </a:endParaRP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2F26DF10-3712-53EB-3D06-245EB6A64B03}"/>
              </a:ext>
            </a:extLst>
          </p:cNvPr>
          <p:cNvSpPr/>
          <p:nvPr/>
        </p:nvSpPr>
        <p:spPr>
          <a:xfrm>
            <a:off x="2563876" y="4775924"/>
            <a:ext cx="2891510" cy="1977578"/>
          </a:xfrm>
          <a:prstGeom prst="roundRect">
            <a:avLst/>
          </a:prstGeom>
          <a:solidFill>
            <a:srgbClr val="D5DAED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folder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High Cohesion: fake and temporary data only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he-IL" sz="1000" dirty="0">
              <a:solidFill>
                <a:schemeClr val="tx1"/>
              </a:solidFill>
            </a:endParaRP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54E3B7CD-C4A1-C5FF-7A23-CDC127633FC1}"/>
              </a:ext>
            </a:extLst>
          </p:cNvPr>
          <p:cNvSpPr/>
          <p:nvPr/>
        </p:nvSpPr>
        <p:spPr>
          <a:xfrm>
            <a:off x="3165444" y="5395398"/>
            <a:ext cx="1466061" cy="13286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jobsData.js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Job title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Village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Field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Education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Experience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Description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Contact information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Source type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Status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Application</a:t>
            </a:r>
            <a:endParaRPr lang="he-IL" sz="700" dirty="0">
              <a:solidFill>
                <a:schemeClr val="tx1"/>
              </a:solidFill>
            </a:endParaRPr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3A567DB0-BB7D-4B9D-7AB1-EA30B4FFBBCC}"/>
              </a:ext>
            </a:extLst>
          </p:cNvPr>
          <p:cNvSpPr/>
          <p:nvPr/>
        </p:nvSpPr>
        <p:spPr>
          <a:xfrm>
            <a:off x="5911658" y="4136278"/>
            <a:ext cx="6171923" cy="23125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components folder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High Cohesion: reusable UI components only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he-IL" sz="1000" dirty="0">
              <a:solidFill>
                <a:schemeClr val="tx1"/>
              </a:solidFill>
            </a:endParaRPr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8F813EBA-7597-DAE8-CB62-06193D796916}"/>
              </a:ext>
            </a:extLst>
          </p:cNvPr>
          <p:cNvSpPr/>
          <p:nvPr/>
        </p:nvSpPr>
        <p:spPr>
          <a:xfrm>
            <a:off x="6031072" y="4726715"/>
            <a:ext cx="894325" cy="297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JobList.jsx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Displays list of jobs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F365DDCE-60AD-71EE-9B79-553C8D3E1425}"/>
              </a:ext>
            </a:extLst>
          </p:cNvPr>
          <p:cNvSpPr/>
          <p:nvPr/>
        </p:nvSpPr>
        <p:spPr>
          <a:xfrm>
            <a:off x="6979293" y="4741033"/>
            <a:ext cx="1036370" cy="297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ApplicationForm.jsx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Submit application form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4359DA98-CE25-9E49-72DB-C936862E8281}"/>
              </a:ext>
            </a:extLst>
          </p:cNvPr>
          <p:cNvSpPr/>
          <p:nvPr/>
        </p:nvSpPr>
        <p:spPr>
          <a:xfrm>
            <a:off x="8086062" y="4726715"/>
            <a:ext cx="1138387" cy="313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Filters.jsx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Filter by village, field,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education level, experience</a:t>
            </a:r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FDFB4922-EECF-FC1D-1EC0-C53BDC40B302}"/>
              </a:ext>
            </a:extLst>
          </p:cNvPr>
          <p:cNvSpPr/>
          <p:nvPr/>
        </p:nvSpPr>
        <p:spPr>
          <a:xfrm>
            <a:off x="9293327" y="4711189"/>
            <a:ext cx="795241" cy="313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Header.jsx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Website title and navigation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D49FC4E2-9E7F-2A85-73F8-07393E6F552D}"/>
              </a:ext>
            </a:extLst>
          </p:cNvPr>
          <p:cNvSpPr/>
          <p:nvPr/>
        </p:nvSpPr>
        <p:spPr>
          <a:xfrm>
            <a:off x="6519256" y="5541883"/>
            <a:ext cx="900973" cy="297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JobCard.jsx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Displays one job card</a:t>
            </a:r>
            <a:endParaRPr lang="he-IL" sz="600" dirty="0">
              <a:solidFill>
                <a:schemeClr val="tx1"/>
              </a:solidFill>
            </a:endParaRPr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0257E44B-4E08-782B-E976-D98E969097EA}"/>
              </a:ext>
            </a:extLst>
          </p:cNvPr>
          <p:cNvSpPr/>
          <p:nvPr/>
        </p:nvSpPr>
        <p:spPr>
          <a:xfrm>
            <a:off x="10148228" y="4726714"/>
            <a:ext cx="795241" cy="2915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SearchBar.jsx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Search jobs by keyword</a:t>
            </a:r>
            <a:endParaRPr lang="he-IL" sz="600" dirty="0">
              <a:solidFill>
                <a:schemeClr val="tx1"/>
              </a:solidFill>
            </a:endParaRPr>
          </a:p>
        </p:txBody>
      </p:sp>
      <p:cxnSp>
        <p:nvCxnSpPr>
          <p:cNvPr id="39" name="מחבר: מרפקי 38">
            <a:extLst>
              <a:ext uri="{FF2B5EF4-FFF2-40B4-BE49-F238E27FC236}">
                <a16:creationId xmlns:a16="http://schemas.microsoft.com/office/drawing/2014/main" id="{E410976C-B271-D5EA-5CC7-340CCB74EE51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5725686" y="1751528"/>
            <a:ext cx="800062" cy="6780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מחבר: מרפקי 41">
            <a:extLst>
              <a:ext uri="{FF2B5EF4-FFF2-40B4-BE49-F238E27FC236}">
                <a16:creationId xmlns:a16="http://schemas.microsoft.com/office/drawing/2014/main" id="{54750FC9-E85F-CD18-62CF-A2EB066E1B28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5400000">
            <a:off x="4873681" y="1564239"/>
            <a:ext cx="786760" cy="10392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מחבר: מרפקי 53">
            <a:extLst>
              <a:ext uri="{FF2B5EF4-FFF2-40B4-BE49-F238E27FC236}">
                <a16:creationId xmlns:a16="http://schemas.microsoft.com/office/drawing/2014/main" id="{8CC7BE12-CC4A-41AF-1988-F691A203FA26}"/>
              </a:ext>
            </a:extLst>
          </p:cNvPr>
          <p:cNvCxnSpPr>
            <a:cxnSpLocks/>
            <a:endCxn id="16" idx="0"/>
          </p:cNvCxnSpPr>
          <p:nvPr/>
        </p:nvCxnSpPr>
        <p:spPr>
          <a:xfrm rot="16200000" flipH="1">
            <a:off x="7287023" y="1968669"/>
            <a:ext cx="1037868" cy="4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מחבר: מרפקי 66">
            <a:extLst>
              <a:ext uri="{FF2B5EF4-FFF2-40B4-BE49-F238E27FC236}">
                <a16:creationId xmlns:a16="http://schemas.microsoft.com/office/drawing/2014/main" id="{A2DA7915-3A5E-0F79-FE0A-E4C14FCCC876}"/>
              </a:ext>
            </a:extLst>
          </p:cNvPr>
          <p:cNvCxnSpPr>
            <a:cxnSpLocks/>
            <a:stCxn id="5" idx="3"/>
            <a:endCxn id="28" idx="0"/>
          </p:cNvCxnSpPr>
          <p:nvPr/>
        </p:nvCxnSpPr>
        <p:spPr>
          <a:xfrm>
            <a:off x="6765034" y="1452700"/>
            <a:ext cx="2925914" cy="32584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מחבר: מרפקי 77">
            <a:extLst>
              <a:ext uri="{FF2B5EF4-FFF2-40B4-BE49-F238E27FC236}">
                <a16:creationId xmlns:a16="http://schemas.microsoft.com/office/drawing/2014/main" id="{D0890B5E-2212-29F6-6986-A9D98443EAA1}"/>
              </a:ext>
            </a:extLst>
          </p:cNvPr>
          <p:cNvCxnSpPr>
            <a:cxnSpLocks/>
            <a:stCxn id="17" idx="2"/>
            <a:endCxn id="20" idx="1"/>
          </p:cNvCxnSpPr>
          <p:nvPr/>
        </p:nvCxnSpPr>
        <p:spPr>
          <a:xfrm rot="16200000" flipH="1">
            <a:off x="1601279" y="4495541"/>
            <a:ext cx="1873914" cy="12544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מחבר: מרפקי 83">
            <a:extLst>
              <a:ext uri="{FF2B5EF4-FFF2-40B4-BE49-F238E27FC236}">
                <a16:creationId xmlns:a16="http://schemas.microsoft.com/office/drawing/2014/main" id="{0B72293B-060C-52C6-146C-FA881DFF3F5A}"/>
              </a:ext>
            </a:extLst>
          </p:cNvPr>
          <p:cNvCxnSpPr>
            <a:cxnSpLocks/>
            <a:endCxn id="17" idx="1"/>
          </p:cNvCxnSpPr>
          <p:nvPr/>
        </p:nvCxnSpPr>
        <p:spPr>
          <a:xfrm rot="10800000" flipV="1">
            <a:off x="1289155" y="2535179"/>
            <a:ext cx="2827766" cy="1233814"/>
          </a:xfrm>
          <a:prstGeom prst="bentConnector3">
            <a:avLst>
              <a:gd name="adj1" fmla="val 1080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מחבר: מרפקי 86">
            <a:extLst>
              <a:ext uri="{FF2B5EF4-FFF2-40B4-BE49-F238E27FC236}">
                <a16:creationId xmlns:a16="http://schemas.microsoft.com/office/drawing/2014/main" id="{2D0698BC-1451-6A09-6051-57CDE35C02E9}"/>
              </a:ext>
            </a:extLst>
          </p:cNvPr>
          <p:cNvCxnSpPr>
            <a:cxnSpLocks/>
            <a:stCxn id="15" idx="2"/>
            <a:endCxn id="17" idx="3"/>
          </p:cNvCxnSpPr>
          <p:nvPr/>
        </p:nvCxnSpPr>
        <p:spPr>
          <a:xfrm rot="5400000">
            <a:off x="3941937" y="1418037"/>
            <a:ext cx="941923" cy="37599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מחבר: מרפקי 89">
            <a:extLst>
              <a:ext uri="{FF2B5EF4-FFF2-40B4-BE49-F238E27FC236}">
                <a16:creationId xmlns:a16="http://schemas.microsoft.com/office/drawing/2014/main" id="{2276A0B1-1F1A-4AF2-33BA-17AE235C3C20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16200000" flipH="1">
            <a:off x="5435741" y="3684220"/>
            <a:ext cx="1899645" cy="185343"/>
          </a:xfrm>
          <a:prstGeom prst="bentConnector3">
            <a:avLst>
              <a:gd name="adj1" fmla="val 495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מחבר: מרפקי 92">
            <a:extLst>
              <a:ext uri="{FF2B5EF4-FFF2-40B4-BE49-F238E27FC236}">
                <a16:creationId xmlns:a16="http://schemas.microsoft.com/office/drawing/2014/main" id="{B719F101-FBCD-83CA-DB77-9BB7A3E3D149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>
          <a:xfrm rot="16200000" flipH="1">
            <a:off x="6465225" y="5037365"/>
            <a:ext cx="517528" cy="491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מחבר: מרפקי 101">
            <a:extLst>
              <a:ext uri="{FF2B5EF4-FFF2-40B4-BE49-F238E27FC236}">
                <a16:creationId xmlns:a16="http://schemas.microsoft.com/office/drawing/2014/main" id="{E8FA3695-C701-3C6F-F63C-40D47E066FFA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rot="5400000">
            <a:off x="6693455" y="3628329"/>
            <a:ext cx="1916727" cy="308680"/>
          </a:xfrm>
          <a:prstGeom prst="bentConnector3">
            <a:avLst>
              <a:gd name="adj1" fmla="val 506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תיבת טקסט 108">
            <a:extLst>
              <a:ext uri="{FF2B5EF4-FFF2-40B4-BE49-F238E27FC236}">
                <a16:creationId xmlns:a16="http://schemas.microsoft.com/office/drawing/2014/main" id="{FE47EE5B-C017-2A56-A24E-F516293E1B22}"/>
              </a:ext>
            </a:extLst>
          </p:cNvPr>
          <p:cNvSpPr txBox="1"/>
          <p:nvPr/>
        </p:nvSpPr>
        <p:spPr>
          <a:xfrm>
            <a:off x="1804301" y="6028424"/>
            <a:ext cx="1256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  <a:cs typeface="David" panose="020E0502060401010101" pitchFamily="34" charset="-79"/>
              </a:rPr>
              <a:t>U</a:t>
            </a:r>
            <a:r>
              <a:rPr lang="he-IL" sz="1200" dirty="0" err="1">
                <a:latin typeface="Aptos" panose="020B0004020202020204" pitchFamily="34" charset="0"/>
                <a:cs typeface="David" panose="020E0502060401010101" pitchFamily="34" charset="-79"/>
              </a:rPr>
              <a:t>ses</a:t>
            </a:r>
            <a:r>
              <a:rPr lang="he-IL" sz="1200" dirty="0">
                <a:latin typeface="Aptos" panose="020B0004020202020204" pitchFamily="34" charset="0"/>
                <a:cs typeface="David" panose="020E0502060401010101" pitchFamily="34" charset="-79"/>
              </a:rPr>
              <a:t> </a:t>
            </a:r>
            <a:r>
              <a:rPr lang="he-IL" sz="1200" dirty="0" err="1">
                <a:latin typeface="Aptos" panose="020B0004020202020204" pitchFamily="34" charset="0"/>
                <a:cs typeface="David" panose="020E0502060401010101" pitchFamily="34" charset="-79"/>
              </a:rPr>
              <a:t>fake</a:t>
            </a:r>
            <a:r>
              <a:rPr lang="he-IL" sz="1200" dirty="0">
                <a:latin typeface="Aptos" panose="020B0004020202020204" pitchFamily="34" charset="0"/>
                <a:cs typeface="David" panose="020E0502060401010101" pitchFamily="34" charset="-79"/>
              </a:rPr>
              <a:t> </a:t>
            </a:r>
            <a:r>
              <a:rPr lang="he-IL" sz="1200" dirty="0" err="1">
                <a:latin typeface="Aptos" panose="020B0004020202020204" pitchFamily="34" charset="0"/>
                <a:cs typeface="David" panose="020E0502060401010101" pitchFamily="34" charset="-79"/>
              </a:rPr>
              <a:t>data</a:t>
            </a:r>
            <a:endParaRPr lang="he-IL" sz="1200" dirty="0">
              <a:latin typeface="Aptos" panose="020B0004020202020204" pitchFamily="34" charset="0"/>
              <a:cs typeface="David" panose="020E0502060401010101" pitchFamily="34" charset="-79"/>
            </a:endParaRP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ED9348AF-C1A2-4BF9-5021-8B44AB36E465}"/>
              </a:ext>
            </a:extLst>
          </p:cNvPr>
          <p:cNvSpPr/>
          <p:nvPr/>
        </p:nvSpPr>
        <p:spPr>
          <a:xfrm>
            <a:off x="4818712" y="668368"/>
            <a:ext cx="1956652" cy="320455"/>
          </a:xfrm>
          <a:prstGeom prst="roundRect">
            <a:avLst/>
          </a:prstGeom>
          <a:solidFill>
            <a:srgbClr val="AE8A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dirty="0" err="1">
                <a:solidFill>
                  <a:schemeClr val="tx1"/>
                </a:solidFill>
              </a:rPr>
              <a:t>main.jsx</a:t>
            </a:r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Starts the React application 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Renders </a:t>
            </a:r>
            <a:r>
              <a:rPr lang="en-US" sz="700" dirty="0" err="1">
                <a:solidFill>
                  <a:schemeClr val="tx1"/>
                </a:solidFill>
              </a:rPr>
              <a:t>App.jsx</a:t>
            </a:r>
            <a:endParaRPr lang="he-IL" sz="700" dirty="0">
              <a:solidFill>
                <a:schemeClr val="tx1"/>
              </a:solidFill>
            </a:endParaRPr>
          </a:p>
        </p:txBody>
      </p: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5DBE8E3B-0AE3-2262-A824-084D2DF966D0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>
            <a:off x="5797038" y="478709"/>
            <a:ext cx="0" cy="189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חץ ישר 35">
            <a:extLst>
              <a:ext uri="{FF2B5EF4-FFF2-40B4-BE49-F238E27FC236}">
                <a16:creationId xmlns:a16="http://schemas.microsoft.com/office/drawing/2014/main" id="{64E4609B-D7E2-9BDC-EE91-E6F67C88046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797038" y="988823"/>
            <a:ext cx="0" cy="24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מחבר: מרפקי 85">
            <a:extLst>
              <a:ext uri="{FF2B5EF4-FFF2-40B4-BE49-F238E27FC236}">
                <a16:creationId xmlns:a16="http://schemas.microsoft.com/office/drawing/2014/main" id="{992C927A-2A39-781D-97AB-0840FDFDCC9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6306445" y="3078178"/>
            <a:ext cx="4239404" cy="16485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מחבר: מרפקי 94">
            <a:extLst>
              <a:ext uri="{FF2B5EF4-FFF2-40B4-BE49-F238E27FC236}">
                <a16:creationId xmlns:a16="http://schemas.microsoft.com/office/drawing/2014/main" id="{1AC5762A-16CC-10A8-C5B9-B095371C4D51}"/>
              </a:ext>
            </a:extLst>
          </p:cNvPr>
          <p:cNvCxnSpPr>
            <a:cxnSpLocks/>
          </p:cNvCxnSpPr>
          <p:nvPr/>
        </p:nvCxnSpPr>
        <p:spPr>
          <a:xfrm rot="5400000">
            <a:off x="7551288" y="3847926"/>
            <a:ext cx="1662856" cy="1233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מלבן: פינות מעוגלות 136">
            <a:extLst>
              <a:ext uri="{FF2B5EF4-FFF2-40B4-BE49-F238E27FC236}">
                <a16:creationId xmlns:a16="http://schemas.microsoft.com/office/drawing/2014/main" id="{15076864-810B-BF8B-EF9B-B453A7FB71B8}"/>
              </a:ext>
            </a:extLst>
          </p:cNvPr>
          <p:cNvSpPr/>
          <p:nvPr/>
        </p:nvSpPr>
        <p:spPr>
          <a:xfrm>
            <a:off x="11000663" y="4724407"/>
            <a:ext cx="1033596" cy="3190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AdminJobForm.jsx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Admin form for adding a job</a:t>
            </a:r>
          </a:p>
        </p:txBody>
      </p:sp>
      <p:cxnSp>
        <p:nvCxnSpPr>
          <p:cNvPr id="154" name="מחבר: מרפקי 153">
            <a:extLst>
              <a:ext uri="{FF2B5EF4-FFF2-40B4-BE49-F238E27FC236}">
                <a16:creationId xmlns:a16="http://schemas.microsoft.com/office/drawing/2014/main" id="{02A801D1-40BB-0F74-016C-443A491380CE}"/>
              </a:ext>
            </a:extLst>
          </p:cNvPr>
          <p:cNvCxnSpPr>
            <a:cxnSpLocks/>
            <a:stCxn id="14" idx="2"/>
            <a:endCxn id="137" idx="0"/>
          </p:cNvCxnSpPr>
          <p:nvPr/>
        </p:nvCxnSpPr>
        <p:spPr>
          <a:xfrm rot="16200000" flipH="1">
            <a:off x="7183769" y="390714"/>
            <a:ext cx="1897337" cy="6770047"/>
          </a:xfrm>
          <a:prstGeom prst="bentConnector3">
            <a:avLst>
              <a:gd name="adj1" fmla="val 363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מחבר: מרפקי 157">
            <a:extLst>
              <a:ext uri="{FF2B5EF4-FFF2-40B4-BE49-F238E27FC236}">
                <a16:creationId xmlns:a16="http://schemas.microsoft.com/office/drawing/2014/main" id="{BD4DD20B-1598-9628-44BF-D4A37E0E1A7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32904" y="3790759"/>
            <a:ext cx="4964577" cy="149314"/>
          </a:xfrm>
          <a:prstGeom prst="bentConnector3">
            <a:avLst>
              <a:gd name="adj1" fmla="val 112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מחבר: מרפקי 180">
            <a:extLst>
              <a:ext uri="{FF2B5EF4-FFF2-40B4-BE49-F238E27FC236}">
                <a16:creationId xmlns:a16="http://schemas.microsoft.com/office/drawing/2014/main" id="{B500A22B-ADA2-6EDA-13DD-6C5956DF70A5}"/>
              </a:ext>
            </a:extLst>
          </p:cNvPr>
          <p:cNvCxnSpPr>
            <a:cxnSpLocks/>
            <a:endCxn id="20" idx="3"/>
          </p:cNvCxnSpPr>
          <p:nvPr/>
        </p:nvCxnSpPr>
        <p:spPr>
          <a:xfrm rot="5400000">
            <a:off x="3616546" y="3855331"/>
            <a:ext cx="3219334" cy="11894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55250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ed3cab-3afb-4117-85dd-44e2a12b383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6CF8CDFCFEDC4AA4D16DC214094B76" ma:contentTypeVersion="13" ma:contentTypeDescription="Create a new document." ma:contentTypeScope="" ma:versionID="80bcc3e0b93f4ad66186d214ce1a0e86">
  <xsd:schema xmlns:xsd="http://www.w3.org/2001/XMLSchema" xmlns:xs="http://www.w3.org/2001/XMLSchema" xmlns:p="http://schemas.microsoft.com/office/2006/metadata/properties" xmlns:ns3="75ed3cab-3afb-4117-85dd-44e2a12b383b" xmlns:ns4="e4fed794-6a0d-4fc7-8d97-da862ddf2a49" targetNamespace="http://schemas.microsoft.com/office/2006/metadata/properties" ma:root="true" ma:fieldsID="4ebac0711fc6f8d629be6207fc4be514" ns3:_="" ns4:_="">
    <xsd:import namespace="75ed3cab-3afb-4117-85dd-44e2a12b383b"/>
    <xsd:import namespace="e4fed794-6a0d-4fc7-8d97-da862ddf2a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d3cab-3afb-4117-85dd-44e2a12b38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ed794-6a0d-4fc7-8d97-da862ddf2a4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C9E20F-BCA5-4449-AAFA-A3588FE53E2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4fed794-6a0d-4fc7-8d97-da862ddf2a49"/>
    <ds:schemaRef ds:uri="http://purl.org/dc/elements/1.1/"/>
    <ds:schemaRef ds:uri="http://schemas.microsoft.com/office/2006/metadata/properties"/>
    <ds:schemaRef ds:uri="75ed3cab-3afb-4117-85dd-44e2a12b383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0A4298-4B4A-409B-B75A-A71CE1E4D9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C2CF75-D6C7-4EDE-B17B-58F5B6EC07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ed3cab-3afb-4117-85dd-44e2a12b383b"/>
    <ds:schemaRef ds:uri="e4fed794-6a0d-4fc7-8d97-da862ddf2a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208</Words>
  <Application>Microsoft Office PowerPoint</Application>
  <PresentationFormat>מסך רחב</PresentationFormat>
  <Paragraphs>78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רנא חמיס</dc:creator>
  <cp:lastModifiedBy>איה שלה</cp:lastModifiedBy>
  <cp:revision>37</cp:revision>
  <dcterms:created xsi:type="dcterms:W3CDTF">2026-05-19T09:32:52Z</dcterms:created>
  <dcterms:modified xsi:type="dcterms:W3CDTF">2026-05-20T15:27:45Z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0x010100E46CF8CDFCFEDC4AA4D16DC214094B76</vt:lpwstr>
  </property>
</Properties>
</file>